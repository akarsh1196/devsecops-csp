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>
  <p:cSld>
    <p:bg>
      <a:bgPr>
        <a:solidFill>
          <a:srgbClr val="0B1220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t" lIns="91440" rIns="91440" tIns="45720" bIns="45720"/>
          <a:lstStyle>
            <a:lvl1pPr>
              <a:defRPr sz="3000">
                <a:latin typeface="Aptos Display"/>
                <a:solidFill>
                  <a:srgbClr val="FFFFFF"/>
                </a:solidFill>
              </a:defRPr>
            </a:lvl1pPr>
            <a:lvl2pPr>
              <a:defRPr sz="3000">
                <a:latin typeface="Aptos Display"/>
                <a:solidFill>
                  <a:srgbClr val="FFFFFF"/>
                </a:solidFill>
              </a:defRPr>
            </a:lvl2pPr>
            <a:lvl3pPr>
              <a:defRPr sz="3000">
                <a:latin typeface="Aptos Display"/>
                <a:solidFill>
                  <a:srgbClr val="FFFFFF"/>
                </a:solidFill>
              </a:defRPr>
            </a:lvl3pPr>
          </a:lstStyle>
          <a:p>
            <a:pPr lvl="0" indent="0" marL="0">
              <a:buNone/>
            </a:pPr>
            <a:r>
              <a:rPr sz="3000" b="1">
                <a:latin typeface="Aptos Display"/>
                <a:solidFill>
                  <a:srgbClr val="FFFFFF"/>
                </a:solidFill>
              </a:rPr>
              <a:t>OpsDesk: from code to observable operations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 wrap="square" anchor="t" lIns="91440" rIns="91440" tIns="45720" bIns="45720"/>
          <a:lstStyle>
            <a:lvl1pPr>
              <a:defRPr sz="1800">
                <a:latin typeface="Aptos"/>
                <a:solidFill>
                  <a:srgbClr val="06B6D4"/>
                </a:solidFill>
              </a:defRPr>
            </a:lvl1pPr>
            <a:lvl2pPr>
              <a:defRPr sz="1800">
                <a:latin typeface="Aptos"/>
                <a:solidFill>
                  <a:srgbClr val="06B6D4"/>
                </a:solidFill>
              </a:defRPr>
            </a:lvl2pPr>
            <a:lvl3pPr>
              <a:defRPr sz="1800">
                <a:latin typeface="Aptos"/>
                <a:solidFill>
                  <a:srgbClr val="06B6D4"/>
                </a:solidFill>
              </a:defRPr>
            </a:lvl3pPr>
          </a:lstStyle>
          <a:p>
            <a:pPr lvl="0" indent="0" marL="0">
              <a:buNone/>
            </a:pPr>
            <a:r>
              <a:rPr sz="1800" b="0">
                <a:latin typeface="Aptos"/>
                <a:solidFill>
                  <a:srgbClr val="06B6D4"/>
                </a:solidFill>
              </a:rPr>
              <a:t>DevSecOps capstone</a:t>
            </a:r>
            <a:br/>
            <a:br/>
            <a:r>
              <a:rPr sz="1800" b="0">
                <a:latin typeface="Aptos"/>
                <a:solidFill>
                  <a:srgbClr val="06B6D4"/>
                </a:solidFill>
              </a:rPr>
              <a:t>OpsDesk platform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wrap="square" anchor="t" lIns="91440" rIns="91440" tIns="45720" bIns="45720"/>
          <a:lstStyle>
            <a:lvl1pPr>
              <a:defRPr sz="900">
                <a:latin typeface="Aptos"/>
                <a:solidFill>
                  <a:srgbClr val="CBD5E1"/>
                </a:solidFill>
              </a:defRPr>
            </a:lvl1pPr>
            <a:lvl2pPr>
              <a:defRPr sz="900">
                <a:latin typeface="Aptos"/>
                <a:solidFill>
                  <a:srgbClr val="CBD5E1"/>
                </a:solidFill>
              </a:defRPr>
            </a:lvl2pPr>
            <a:lvl3pPr>
              <a:defRPr sz="900">
                <a:latin typeface="Aptos"/>
                <a:solidFill>
                  <a:srgbClr val="CBD5E1"/>
                </a:solidFill>
              </a:defRPr>
            </a:lvl3pPr>
          </a:lstStyle>
          <a:p>
            <a:pPr lvl="0" indent="0" marL="0">
              <a:buNone/>
            </a:pPr>
            <a:r>
              <a:rPr sz="900" b="0">
                <a:latin typeface="Aptos"/>
                <a:solidFill>
                  <a:srgbClr val="CBD5E1"/>
                </a:solidFill>
              </a:rPr>
              <a:t>17 October 2026</a:t>
            </a:r>
          </a:p>
        </p:txBody>
      </p:sp>
      <p:sp>
        <p:nvSpPr>
          <p:cNvPr id="5" name="Cover accent bar"/>
          <p:cNvSpPr txBox="0"/>
          <p:nvPr/>
        </p:nvSpPr>
        <p:spPr>
          <a:xfrm>
            <a:off x="650000" y="1450000"/>
            <a:ext cx="90000" cy="1480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Cover accent dot"/>
          <p:cNvSpPr txBox="0"/>
          <p:nvPr/>
        </p:nvSpPr>
        <p:spPr>
          <a:xfrm>
            <a:off x="7940000" y="1160000"/>
            <a:ext cx="220000" cy="220000"/>
          </a:xfrm>
          <a:prstGeom prst="ellipse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Cover accent dot amber"/>
          <p:cNvSpPr txBox="0"/>
          <p:nvPr/>
        </p:nvSpPr>
        <p:spPr>
          <a:xfrm>
            <a:off x="8290000" y="1510000"/>
            <a:ext cx="140000" cy="140000"/>
          </a:xfrm>
          <a:prstGeom prst="ellipse">
            <a:avLst/>
          </a:prstGeom>
          <a:solidFill>
            <a:srgbClr val="F59E0B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8" name="Cover footer"/>
          <p:cNvSpPr txBox="1"/>
          <p:nvPr/>
        </p:nvSpPr>
        <p:spPr>
          <a:xfrm>
            <a:off x="600000" y="6250000"/>
            <a:ext cx="8200000" cy="36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900">
                <a:latin typeface="Aptos"/>
                <a:solidFill>
                  <a:srgbClr val="CBD5E1"/>
                </a:solidFill>
              </a:rPr>
              <a:t>OPSDESK  /  DEVSECOPS CAPSTONE  /  LIVE CLASSROOM DEPLOYMENT</a:t>
            </a:r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1 — Platform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DevSecOps capstone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Incident/work-item dashboard for an operations team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React + FastAPI + PostgreSQL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CI/CD, containers, Terraform, Kubernetes, Helm, ArgoCD, Prometheus, and Grafana artifacts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Delivery path verified from local Compose through a live EKS deployment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Technology stack</a:t>
            </a:r>
          </a:p>
          <a:p>
            <a:pPr lvl="0"/>
            <a:r>
              <a:rPr b="0" sz="1550">
                <a:latin typeface="Aptos"/>
                <a:solidFill>
                  <a:srgbClr val="334155"/>
                </a:solidFill>
              </a:rPr>
              <a:t>Frontend:</a:t>
            </a:r>
            <a:r>
              <a:rPr sz="1550" b="0">
                <a:latin typeface="Aptos"/>
                <a:solidFill>
                  <a:srgbClr val="334155"/>
                </a:solidFill>
              </a:rPr>
              <a:t> React 18, Vite, Node.js 22, Nginx</a:t>
            </a:r>
          </a:p>
          <a:p>
            <a:pPr lvl="0"/>
            <a:r>
              <a:rPr b="0" sz="1550">
                <a:latin typeface="Aptos"/>
                <a:solidFill>
                  <a:srgbClr val="334155"/>
                </a:solidFill>
              </a:rPr>
              <a:t>Backend:</a:t>
            </a:r>
            <a:r>
              <a:rPr sz="1550" b="0">
                <a:latin typeface="Aptos"/>
                <a:solidFill>
                  <a:srgbClr val="334155"/>
                </a:solidFill>
              </a:rPr>
              <a:t> Python 3.12, FastAPI, SQLAlchemy, Pydantic, Alembic, Pytest</a:t>
            </a:r>
          </a:p>
          <a:p>
            <a:pPr lvl="0"/>
            <a:r>
              <a:rPr b="0" sz="1550">
                <a:latin typeface="Aptos"/>
                <a:solidFill>
                  <a:srgbClr val="334155"/>
                </a:solidFill>
              </a:rPr>
              <a:t>Platform:</a:t>
            </a:r>
            <a:r>
              <a:rPr sz="1550" b="0">
                <a:latin typeface="Aptos"/>
                <a:solidFill>
                  <a:srgbClr val="334155"/>
                </a:solidFill>
              </a:rPr>
              <a:t> Docker Compose, GitHub Actions, Trivy, Terraform, AWS EKS, Kubernetes, Helm, ArgoCD, Prometheus, Grafana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Presenter note:</a:t>
            </a:r>
            <a:r>
              <a:rPr sz="1550" b="0">
                <a:latin typeface="Aptos"/>
                <a:solidFill>
                  <a:srgbClr val="334155"/>
                </a:solidFill>
              </a:rPr>
              <a:t> The repository is named </a:t>
            </a:r>
            <a:r>
              <a:rPr sz="1550" b="0">
                <a:latin typeface="Aptos"/>
                <a:solidFill>
                  <a:srgbClr val="334155"/>
                </a:solidFill>
              </a:rPr>
              <a:t>devsecops-csp</a:t>
            </a:r>
            <a:r>
              <a:rPr sz="1550" b="0">
                <a:latin typeface="Aptos"/>
                <a:solidFill>
                  <a:srgbClr val="334155"/>
                </a:solidFill>
              </a:rPr>
              <a:t>; the product presented by the current frontend and API is OpsDesk.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01  /  11</a:t>
            </a:r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2 — The application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Create incidents with title, description, priority, status, and owner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Filter the queue by status, priority, or text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Advance work through </a:t>
            </a:r>
            <a:r>
              <a:rPr sz="1550" b="0">
                <a:latin typeface="Aptos"/>
                <a:solidFill>
                  <a:srgbClr val="334155"/>
                </a:solidFill>
              </a:rPr>
              <a:t>OPEN → IN_PROGRESS → RESOLVED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Read summary statistics from the API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Use </a:t>
            </a:r>
            <a:r>
              <a:rPr sz="1550" b="0">
                <a:latin typeface="Aptos"/>
                <a:solidFill>
                  <a:srgbClr val="334155"/>
                </a:solidFill>
              </a:rPr>
              <a:t>/health</a:t>
            </a:r>
            <a:r>
              <a:rPr sz="1550" b="0">
                <a:latin typeface="Aptos"/>
                <a:solidFill>
                  <a:srgbClr val="334155"/>
                </a:solidFill>
              </a:rPr>
              <a:t>, </a:t>
            </a:r>
            <a:r>
              <a:rPr sz="1550" b="0">
                <a:latin typeface="Aptos"/>
                <a:solidFill>
                  <a:srgbClr val="334155"/>
                </a:solidFill>
              </a:rPr>
              <a:t>/ready</a:t>
            </a:r>
            <a:r>
              <a:rPr sz="1550" b="0">
                <a:latin typeface="Aptos"/>
                <a:solidFill>
                  <a:srgbClr val="334155"/>
                </a:solidFill>
              </a:rPr>
              <a:t>, and </a:t>
            </a:r>
            <a:r>
              <a:rPr sz="1550" b="0">
                <a:latin typeface="Aptos"/>
                <a:solidFill>
                  <a:srgbClr val="334155"/>
                </a:solidFill>
              </a:rPr>
              <a:t>/metrics</a:t>
            </a:r>
            <a:r>
              <a:rPr sz="1550" b="0">
                <a:latin typeface="Aptos"/>
                <a:solidFill>
                  <a:srgbClr val="334155"/>
                </a:solidFill>
              </a:rPr>
              <a:t> for operational checks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Verified outcome:</a:t>
            </a:r>
            <a:r>
              <a:rPr sz="1550" b="0">
                <a:latin typeface="Aptos"/>
                <a:solidFill>
                  <a:srgbClr val="334155"/>
                </a:solidFill>
              </a:rPr>
              <a:t> the live Ingress served the React application, and the API smoke flow created incident </a:t>
            </a:r>
            <a:r>
              <a:rPr sz="1550" b="0">
                <a:latin typeface="Aptos"/>
                <a:solidFill>
                  <a:srgbClr val="334155"/>
                </a:solidFill>
              </a:rPr>
              <a:t>1</a:t>
            </a:r>
            <a:r>
              <a:rPr sz="1550" b="0">
                <a:latin typeface="Aptos"/>
                <a:solidFill>
                  <a:srgbClr val="334155"/>
                </a:solidFill>
              </a:rPr>
              <a:t>, moved it to </a:t>
            </a:r>
            <a:r>
              <a:rPr sz="1550" b="0">
                <a:latin typeface="Aptos"/>
                <a:solidFill>
                  <a:srgbClr val="334155"/>
                </a:solidFill>
              </a:rPr>
              <a:t>IN_PROGRESS</a:t>
            </a:r>
            <a:r>
              <a:rPr sz="1550" b="0">
                <a:latin typeface="Aptos"/>
                <a:solidFill>
                  <a:srgbClr val="334155"/>
                </a:solidFill>
              </a:rPr>
              <a:t>, and returned updated statistics.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02  /  11</a:t>
            </a:r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3 —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Browser
  │  local port 3001 or AWS NGINX Ingress /
  ▼
React static site + Nginx
  │  /api/*
  ▼
FastAPI / OpsDesk API ───────► PostgreSQL
  │ /metrics
  ▼
Prometheus ◄── ServiceMonitor ── Kubernetes Service
  │
  ▼
Grafana dashboard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Docker Compose is the local three-service path; it was verified with PostgreSQL, backend, and frontend containers.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Helm packages the cluster path and includes PostgreSQL/PVC, HPA, Ingress, and ServiceMonitor resources.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Terraform manages the AWS VPC, EKS cluster, managed nodes, EBS CSI add-on, and supporting IAM.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03  /  11</a:t>
            </a:r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4 — API and 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 marL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Canonical API resources:</a:t>
            </a:r>
          </a:p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GET    /api/incidents
GET    /api/incidents/{id}
POST   /api/incidents
PUT    /api/incidents/{id}
DELETE /api/incidents/{id}
GET    /api/incidents/stats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Alembic migrations manage the database schema.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Pydantic validates titles, statuses, priorities, and update payloads.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/api/work-items</a:t>
            </a:r>
            <a:r>
              <a:rPr sz="1550" b="0">
                <a:latin typeface="Aptos"/>
                <a:solidFill>
                  <a:srgbClr val="334155"/>
                </a:solidFill>
              </a:rPr>
              <a:t> remains as a hidden compatibility alias.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Verified API flow:</a:t>
            </a:r>
            <a:r>
              <a:rPr sz="1550" b="0">
                <a:latin typeface="Aptos"/>
                <a:solidFill>
                  <a:srgbClr val="334155"/>
                </a:solidFill>
              </a:rPr>
              <a:t> </a:t>
            </a:r>
            <a:r>
              <a:rPr sz="1550" b="0">
                <a:latin typeface="Aptos"/>
                <a:solidFill>
                  <a:srgbClr val="334155"/>
                </a:solidFill>
              </a:rPr>
              <a:t>/health</a:t>
            </a:r>
            <a:r>
              <a:rPr sz="1550" b="0">
                <a:latin typeface="Aptos"/>
                <a:solidFill>
                  <a:srgbClr val="334155"/>
                </a:solidFill>
              </a:rPr>
              <a:t> returned </a:t>
            </a:r>
            <a:r>
              <a:rPr sz="1550" b="0">
                <a:latin typeface="Aptos"/>
                <a:solidFill>
                  <a:srgbClr val="334155"/>
                </a:solidFill>
              </a:rPr>
              <a:t>UP</a:t>
            </a:r>
            <a:r>
              <a:rPr sz="1550" b="0">
                <a:latin typeface="Aptos"/>
                <a:solidFill>
                  <a:srgbClr val="334155"/>
                </a:solidFill>
              </a:rPr>
              <a:t>, </a:t>
            </a:r>
            <a:r>
              <a:rPr sz="1550" b="0">
                <a:latin typeface="Aptos"/>
                <a:solidFill>
                  <a:srgbClr val="334155"/>
                </a:solidFill>
              </a:rPr>
              <a:t>/ready</a:t>
            </a:r>
            <a:r>
              <a:rPr sz="1550" b="0">
                <a:latin typeface="Aptos"/>
                <a:solidFill>
                  <a:srgbClr val="334155"/>
                </a:solidFill>
              </a:rPr>
              <a:t> returned </a:t>
            </a:r>
            <a:r>
              <a:rPr sz="1550" b="0">
                <a:latin typeface="Aptos"/>
                <a:solidFill>
                  <a:srgbClr val="334155"/>
                </a:solidFill>
              </a:rPr>
              <a:t>READY</a:t>
            </a:r>
            <a:r>
              <a:rPr sz="1550" b="0">
                <a:latin typeface="Aptos"/>
                <a:solidFill>
                  <a:srgbClr val="334155"/>
                </a:solidFill>
              </a:rPr>
              <a:t>, the live CRUD smoke test succeeded, and Prometheus scraped both backend Pods.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04  /  11</a:t>
            </a:r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5 — Local developer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FRONTEND_PORT</a:t>
            </a:r>
            <a:r>
              <a:rPr sz="1550" b="0">
                <a:latin typeface="Aptos"/>
                <a:solidFill>
                  <a:srgbClr val="334155"/>
                </a:solidFill>
              </a:rPr>
              <a:t>=</a:t>
            </a:r>
            <a:r>
              <a:rPr sz="1550" b="0">
                <a:latin typeface="Aptos"/>
                <a:solidFill>
                  <a:srgbClr val="334155"/>
                </a:solidFill>
              </a:rPr>
              <a:t>3001 docker compose up </a:t>
            </a:r>
            <a:r>
              <a:rPr sz="1550" b="0">
                <a:latin typeface="Aptos"/>
                <a:solidFill>
                  <a:srgbClr val="334155"/>
                </a:solidFill>
              </a:rPr>
              <a:t>--build</a:t>
            </a:r>
            <a:r>
              <a:rPr sz="1550" b="0">
                <a:latin typeface="Aptos"/>
                <a:solidFill>
                  <a:srgbClr val="334155"/>
                </a:solidFill>
              </a:rPr>
              <a:t> </a:t>
            </a:r>
            <a:r>
              <a:rPr sz="1550" b="0">
                <a:latin typeface="Aptos"/>
                <a:solidFill>
                  <a:srgbClr val="334155"/>
                </a:solidFill>
              </a:rPr>
              <a:t>-d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curl http://localhost:8000/health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curl http://localhost:8000/ready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curl http://localhost:3001/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docker compose down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Compose starts Postgres, the FastAPI backend, and Nginx-served frontend.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Compose database uses the development </a:t>
            </a:r>
            <a:r>
              <a:rPr sz="1550" b="0">
                <a:latin typeface="Aptos"/>
                <a:solidFill>
                  <a:srgbClr val="334155"/>
                </a:solidFill>
              </a:rPr>
              <a:t>opsdesk</a:t>
            </a:r>
            <a:r>
              <a:rPr sz="1550" b="0">
                <a:latin typeface="Aptos"/>
                <a:solidFill>
                  <a:srgbClr val="334155"/>
                </a:solidFill>
              </a:rPr>
              <a:t> database/user/password values in </a:t>
            </a:r>
            <a:r>
              <a:rPr sz="1550" b="0">
                <a:latin typeface="Aptos"/>
                <a:solidFill>
                  <a:srgbClr val="334155"/>
                </a:solidFill>
              </a:rPr>
              <a:t>docker-compose.yml</a:t>
            </a:r>
            <a:r>
              <a:rPr sz="1550" b="0">
                <a:latin typeface="Aptos"/>
                <a:solidFill>
                  <a:srgbClr val="334155"/>
                </a:solidFill>
              </a:rPr>
              <a:t>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backend container runs Alembic migrations before serving traffic.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local smoke check completed successfully; the frontend was mapped to port </a:t>
            </a:r>
            <a:r>
              <a:rPr sz="1550" b="0">
                <a:latin typeface="Aptos"/>
                <a:solidFill>
                  <a:srgbClr val="334155"/>
                </a:solidFill>
              </a:rPr>
              <a:t>3001</a:t>
            </a:r>
            <a:r>
              <a:rPr sz="1550" b="0">
                <a:latin typeface="Aptos"/>
                <a:solidFill>
                  <a:srgbClr val="334155"/>
                </a:solidFill>
              </a:rPr>
              <a:t> because port </a:t>
            </a:r>
            <a:r>
              <a:rPr sz="1550" b="0">
                <a:latin typeface="Aptos"/>
                <a:solidFill>
                  <a:srgbClr val="334155"/>
                </a:solidFill>
              </a:rPr>
              <a:t>3000</a:t>
            </a:r>
            <a:r>
              <a:rPr sz="1550" b="0">
                <a:latin typeface="Aptos"/>
                <a:solidFill>
                  <a:srgbClr val="334155"/>
                </a:solidFill>
              </a:rPr>
              <a:t> was already in use.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05  /  11</a:t>
            </a:r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6 — CI/CD and supply-chain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Active workflow:</a:t>
            </a:r>
            <a:r>
              <a:rPr sz="1550" b="0">
                <a:latin typeface="Aptos"/>
                <a:solidFill>
                  <a:srgbClr val="334155"/>
                </a:solidFill>
              </a:rPr>
              <a:t> </a:t>
            </a:r>
            <a:r>
              <a:rPr sz="1550" b="0">
                <a:latin typeface="Aptos"/>
                <a:solidFill>
                  <a:srgbClr val="334155"/>
                </a:solidFill>
              </a:rPr>
              <a:t>.github/workflows/ci-cd.yml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Runs on pushes and pull requests targeting </a:t>
            </a:r>
            <a:r>
              <a:rPr sz="1550" b="0">
                <a:latin typeface="Aptos"/>
                <a:solidFill>
                  <a:srgbClr val="334155"/>
                </a:solidFill>
              </a:rPr>
              <a:t>main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Backend Pytest, frontend tests, and frontend production build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Terraform format/validation and Helm lint/render validation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Builds backend/frontend images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Trivy HIGH/CRITICAL scan with </a:t>
            </a:r>
            <a:r>
              <a:rPr sz="1550" b="0">
                <a:latin typeface="Aptos"/>
                <a:solidFill>
                  <a:srgbClr val="334155"/>
                </a:solidFill>
              </a:rPr>
              <a:t>exit-code: 1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Pushes commit-SHA-tagged images to GHCR</a:t>
            </a:r>
          </a:p>
          <a:p>
            <a:pPr lvl="0" indent="-342900" marL="342900">
              <a:buAutoNum type="arabicPeriod"/>
            </a:pPr>
            <a:r>
              <a:rPr sz="1550" b="0">
                <a:latin typeface="Aptos"/>
                <a:solidFill>
                  <a:srgbClr val="334155"/>
                </a:solidFill>
              </a:rPr>
              <a:t>Optional manual deployment with </a:t>
            </a:r>
            <a:r>
              <a:rPr sz="1550" b="0">
                <a:latin typeface="Aptos"/>
                <a:solidFill>
                  <a:srgbClr val="334155"/>
                </a:solidFill>
              </a:rPr>
              <a:t>workflow_dispatch</a:t>
            </a:r>
            <a:r>
              <a:rPr sz="1550" b="0">
                <a:latin typeface="Aptos"/>
                <a:solidFill>
                  <a:srgbClr val="334155"/>
                </a:solidFill>
              </a:rPr>
              <a:t>, prerequisite checks, and Helm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Verified locally:</a:t>
            </a:r>
            <a:r>
              <a:rPr sz="1550" b="0">
                <a:latin typeface="Aptos"/>
                <a:solidFill>
                  <a:srgbClr val="334155"/>
                </a:solidFill>
              </a:rPr>
              <a:t> </a:t>
            </a:r>
            <a:r>
              <a:rPr sz="1550" b="0">
                <a:latin typeface="Aptos"/>
                <a:solidFill>
                  <a:srgbClr val="334155"/>
                </a:solidFill>
              </a:rPr>
              <a:t>actionlint</a:t>
            </a:r>
            <a:r>
              <a:rPr sz="1550" b="0">
                <a:latin typeface="Aptos"/>
                <a:solidFill>
                  <a:srgbClr val="334155"/>
                </a:solidFill>
              </a:rPr>
              <a:t> passed, frontend tests reported </a:t>
            </a:r>
            <a:r>
              <a:rPr sz="1550" b="0">
                <a:latin typeface="Aptos"/>
                <a:solidFill>
                  <a:srgbClr val="334155"/>
                </a:solidFill>
              </a:rPr>
              <a:t>3 passed</a:t>
            </a:r>
            <a:r>
              <a:rPr sz="1550" b="0">
                <a:latin typeface="Aptos"/>
                <a:solidFill>
                  <a:srgbClr val="334155"/>
                </a:solidFill>
              </a:rPr>
              <a:t>, backend tests reported </a:t>
            </a:r>
            <a:r>
              <a:rPr sz="1550" b="0">
                <a:latin typeface="Aptos"/>
                <a:solidFill>
                  <a:srgbClr val="334155"/>
                </a:solidFill>
              </a:rPr>
              <a:t>9 passed</a:t>
            </a:r>
            <a:r>
              <a:rPr sz="1550" b="0">
                <a:latin typeface="Aptos"/>
                <a:solidFill>
                  <a:srgbClr val="334155"/>
                </a:solidFill>
              </a:rPr>
              <a:t>, and the local cached-DB Trivy scans reported zero HIGH/CRITICAL findings for both images.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06  /  11</a:t>
            </a:r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7 — Terraform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AWS VPC 10.20.0.0/16
  ├── two public subnets
  ├── two private subnets
  ├── single NAT gateway
  └── EKS opsdesk-eks
         └── managed t3.small node group, desired size 4</a:t>
            </a:r>
          </a:p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Initial plan:   non-empty → apply succeeded
Steady-state:   No changes
Cluster:        opsdesk-eks / ACTIVE / Kubernetes 1.31
Region:         ap-south-1
Workers:        4 x t3.small / Ready
Storage:        AWS EBS CSI + default gp3 StorageClass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Observed live evidence:</a:t>
            </a:r>
            <a:r>
              <a:rPr sz="1550" b="0">
                <a:latin typeface="Aptos"/>
                <a:solidFill>
                  <a:srgbClr val="334155"/>
                </a:solidFill>
              </a:rPr>
              <a:t> the initial provisioning plan was non-empty and applied successfully; the steady-state refresh later reported </a:t>
            </a:r>
            <a:r>
              <a:rPr sz="1550" b="0">
                <a:latin typeface="Aptos"/>
                <a:solidFill>
                  <a:srgbClr val="334155"/>
                </a:solidFill>
              </a:rPr>
              <a:t>No changes</a:t>
            </a:r>
            <a:r>
              <a:rPr sz="1550" b="0">
                <a:latin typeface="Aptos"/>
                <a:solidFill>
                  <a:srgbClr val="334155"/>
                </a:solidFill>
              </a:rPr>
              <a:t>. The </a:t>
            </a:r>
            <a:r>
              <a:rPr sz="1550" b="0">
                <a:latin typeface="Aptos"/>
                <a:solidFill>
                  <a:srgbClr val="334155"/>
                </a:solidFill>
              </a:rPr>
              <a:t>opsdesk-eks</a:t>
            </a:r>
            <a:r>
              <a:rPr sz="1550" b="0">
                <a:latin typeface="Aptos"/>
                <a:solidFill>
                  <a:srgbClr val="334155"/>
                </a:solidFill>
              </a:rPr>
              <a:t> cluster is ACTIVE in </a:t>
            </a:r>
            <a:r>
              <a:rPr sz="1550" b="0">
                <a:latin typeface="Aptos"/>
                <a:solidFill>
                  <a:srgbClr val="334155"/>
                </a:solidFill>
              </a:rPr>
              <a:t>ap-south-1</a:t>
            </a:r>
            <a:r>
              <a:rPr sz="1550" b="0">
                <a:latin typeface="Aptos"/>
                <a:solidFill>
                  <a:srgbClr val="334155"/>
                </a:solidFill>
              </a:rPr>
              <a:t> with four Ready </a:t>
            </a:r>
            <a:r>
              <a:rPr sz="1550" b="0">
                <a:latin typeface="Aptos"/>
                <a:solidFill>
                  <a:srgbClr val="334155"/>
                </a:solidFill>
              </a:rPr>
              <a:t>t3.small</a:t>
            </a:r>
            <a:r>
              <a:rPr sz="1550" b="0">
                <a:latin typeface="Aptos"/>
                <a:solidFill>
                  <a:srgbClr val="334155"/>
                </a:solidFill>
              </a:rPr>
              <a:t> nodes and the AWS EBS CSI add-on.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07  /  11</a:t>
            </a:r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8 — Kubernetes and Helm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k8s/</a:t>
            </a:r>
            <a:r>
              <a:rPr sz="1550" b="0">
                <a:latin typeface="Aptos"/>
                <a:solidFill>
                  <a:srgbClr val="334155"/>
                </a:solidFill>
              </a:rPr>
              <a:t> contains the namespace and </a:t>
            </a:r>
            <a:r>
              <a:rPr sz="1550" b="0">
                <a:latin typeface="Aptos"/>
                <a:solidFill>
                  <a:srgbClr val="334155"/>
                </a:solidFill>
              </a:rPr>
              <a:t>gp3</a:t>
            </a:r>
            <a:r>
              <a:rPr sz="1550" b="0">
                <a:latin typeface="Aptos"/>
                <a:solidFill>
                  <a:srgbClr val="334155"/>
                </a:solidFill>
              </a:rPr>
              <a:t> StorageClass bootstrap manifests; Helm owns the application resources.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helm/taskboard</a:t>
            </a:r>
            <a:r>
              <a:rPr sz="1550" b="0">
                <a:latin typeface="Aptos"/>
                <a:solidFill>
                  <a:srgbClr val="334155"/>
                </a:solidFill>
              </a:rPr>
              <a:t> packages frontend, backend, PostgreSQL/PVC, Ingress, HPA, and ServiceMonitor.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Production deployment is running with 2 backend Pods, 2 frontend Pods, 1 PostgreSQL Pod, a Bound 5 GiB PVC, and an AWS load balancer.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Backend and frontend are exposed internally through ClusterIP Services; the NGINX Ingress routes </a:t>
            </a:r>
            <a:r>
              <a:rPr sz="1550" b="0">
                <a:latin typeface="Aptos"/>
                <a:solidFill>
                  <a:srgbClr val="334155"/>
                </a:solidFill>
              </a:rPr>
              <a:t>/</a:t>
            </a:r>
            <a:r>
              <a:rPr sz="1550" b="0">
                <a:latin typeface="Aptos"/>
                <a:solidFill>
                  <a:srgbClr val="334155"/>
                </a:solidFill>
              </a:rPr>
              <a:t> to frontend and </a:t>
            </a:r>
            <a:r>
              <a:rPr sz="1550" b="0">
                <a:latin typeface="Aptos"/>
                <a:solidFill>
                  <a:srgbClr val="334155"/>
                </a:solidFill>
              </a:rPr>
              <a:t>/api</a:t>
            </a:r>
            <a:r>
              <a:rPr sz="1550" b="0">
                <a:latin typeface="Aptos"/>
                <a:solidFill>
                  <a:srgbClr val="334155"/>
                </a:solidFill>
              </a:rPr>
              <a:t> to backend.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helm upgrade --install</a:t>
            </a:r>
            <a:r>
              <a:rPr sz="1550" b="0">
                <a:latin typeface="Aptos"/>
                <a:solidFill>
                  <a:srgbClr val="334155"/>
                </a:solidFill>
              </a:rPr>
              <a:t> completed successfully and all application Pods reached </a:t>
            </a:r>
            <a:r>
              <a:rPr sz="1550" b="0">
                <a:latin typeface="Aptos"/>
                <a:solidFill>
                  <a:srgbClr val="334155"/>
                </a:solidFill>
              </a:rPr>
              <a:t>Running</a:t>
            </a:r>
            <a:r>
              <a:rPr sz="1550" b="0">
                <a:latin typeface="Aptos"/>
                <a:solidFill>
                  <a:srgbClr val="334155"/>
                </a:solidFill>
              </a:rPr>
              <a:t>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PostgreSQL chart sets </a:t>
            </a:r>
            <a:r>
              <a:rPr sz="1550" b="0">
                <a:latin typeface="Aptos"/>
                <a:solidFill>
                  <a:srgbClr val="334155"/>
                </a:solidFill>
              </a:rPr>
              <a:t>PGDATA</a:t>
            </a:r>
            <a:r>
              <a:rPr sz="1550" b="0">
                <a:latin typeface="Aptos"/>
                <a:solidFill>
                  <a:srgbClr val="334155"/>
                </a:solidFill>
              </a:rPr>
              <a:t> below the mounted volume root so a fresh EBS filesystem can initialize correctly.</a:t>
            </a:r>
          </a:p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helm lint ./helm/taskboard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helm template opsdesk ./helm/taskboard </a:t>
            </a:r>
            <a:r>
              <a:rPr sz="1550" b="0">
                <a:latin typeface="Aptos"/>
                <a:solidFill>
                  <a:srgbClr val="334155"/>
                </a:solidFill>
              </a:rPr>
              <a:t>-n</a:t>
            </a:r>
            <a:r>
              <a:rPr sz="1550" b="0">
                <a:latin typeface="Aptos"/>
                <a:solidFill>
                  <a:srgbClr val="334155"/>
                </a:solidFill>
              </a:rPr>
              <a:t> opsdesk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Verified:</a:t>
            </a:r>
            <a:r>
              <a:rPr sz="1550" b="0">
                <a:latin typeface="Aptos"/>
                <a:solidFill>
                  <a:srgbClr val="334155"/>
                </a:solidFill>
              </a:rPr>
              <a:t> Helm lint and production rendering passed.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08  /  11</a:t>
            </a:r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9 — ArgoCD GitOps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 marL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argocd/application.yaml</a:t>
            </a:r>
            <a:r>
              <a:rPr sz="1550" b="0">
                <a:latin typeface="Aptos"/>
                <a:solidFill>
                  <a:srgbClr val="334155"/>
                </a:solidFill>
              </a:rPr>
              <a:t> is the configured project Application:</a:t>
            </a:r>
          </a:p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Git main branch
      │
      ▼
ArgoCD Application
      │ renders helm/taskboard
       ▼
opsdesk namespace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current live release points at the project repository and immutable ECR image tags.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automated.prune</a:t>
            </a:r>
            <a:r>
              <a:rPr sz="1550" b="0">
                <a:latin typeface="Aptos"/>
                <a:solidFill>
                  <a:srgbClr val="334155"/>
                </a:solidFill>
              </a:rPr>
              <a:t> and </a:t>
            </a:r>
            <a:r>
              <a:rPr sz="1550" b="0">
                <a:latin typeface="Aptos"/>
                <a:solidFill>
                  <a:srgbClr val="334155"/>
                </a:solidFill>
              </a:rPr>
              <a:t>selfHeal</a:t>
            </a:r>
            <a:r>
              <a:rPr sz="1550" b="0">
                <a:latin typeface="Aptos"/>
                <a:solidFill>
                  <a:srgbClr val="334155"/>
                </a:solidFill>
              </a:rPr>
              <a:t> are enabled in the Application manifest.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live Application was observed as </a:t>
            </a:r>
            <a:r>
              <a:rPr sz="1550" b="0">
                <a:latin typeface="Aptos"/>
                <a:solidFill>
                  <a:srgbClr val="334155"/>
                </a:solidFill>
              </a:rPr>
              <a:t>Synced</a:t>
            </a:r>
            <a:r>
              <a:rPr sz="1550" b="0">
                <a:latin typeface="Aptos"/>
                <a:solidFill>
                  <a:srgbClr val="334155"/>
                </a:solidFill>
              </a:rPr>
              <a:t> and </a:t>
            </a:r>
            <a:r>
              <a:rPr sz="1550" b="0">
                <a:latin typeface="Aptos"/>
                <a:solidFill>
                  <a:srgbClr val="334155"/>
                </a:solidFill>
              </a:rPr>
              <a:t>Healthy</a:t>
            </a:r>
            <a:r>
              <a:rPr sz="1550" b="0">
                <a:latin typeface="Aptos"/>
                <a:solidFill>
                  <a:srgbClr val="334155"/>
                </a:solidFill>
              </a:rPr>
              <a:t> after deployment.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Observed live evidence:</a:t>
            </a:r>
            <a:r>
              <a:rPr sz="1550" b="0">
                <a:latin typeface="Aptos"/>
                <a:solidFill>
                  <a:srgbClr val="334155"/>
                </a:solidFill>
              </a:rPr>
              <a:t> </a:t>
            </a:r>
            <a:r>
              <a:rPr sz="1550" b="0">
                <a:latin typeface="Aptos"/>
                <a:solidFill>
                  <a:srgbClr val="334155"/>
                </a:solidFill>
              </a:rPr>
              <a:t>kubectl -n argocd get application opsdesk</a:t>
            </a:r>
            <a:r>
              <a:rPr sz="1550" b="0">
                <a:latin typeface="Aptos"/>
                <a:solidFill>
                  <a:srgbClr val="334155"/>
                </a:solidFill>
              </a:rPr>
              <a:t> reported </a:t>
            </a:r>
            <a:r>
              <a:rPr sz="1550" b="0">
                <a:latin typeface="Aptos"/>
                <a:solidFill>
                  <a:srgbClr val="334155"/>
                </a:solidFill>
              </a:rPr>
              <a:t>Healthy Synced</a:t>
            </a:r>
            <a:r>
              <a:rPr sz="1550" b="0">
                <a:latin typeface="Aptos"/>
                <a:solidFill>
                  <a:srgbClr val="334155"/>
                </a:solidFill>
              </a:rPr>
              <a:t>. The Application tracks </a:t>
            </a:r>
            <a:r>
              <a:rPr sz="1550" b="0">
                <a:latin typeface="Aptos"/>
                <a:solidFill>
                  <a:srgbClr val="334155"/>
                </a:solidFill>
              </a:rPr>
              <a:t>Akarsh1196/devsecops-csp</a:t>
            </a:r>
            <a:r>
              <a:rPr sz="1550" b="0">
                <a:latin typeface="Aptos"/>
                <a:solidFill>
                  <a:srgbClr val="334155"/>
                </a:solidFill>
              </a:rPr>
              <a:t> and reconciles the </a:t>
            </a:r>
            <a:r>
              <a:rPr sz="1550" b="0">
                <a:latin typeface="Aptos"/>
                <a:solidFill>
                  <a:srgbClr val="334155"/>
                </a:solidFill>
              </a:rPr>
              <a:t>main</a:t>
            </a:r>
            <a:r>
              <a:rPr sz="1550" b="0">
                <a:latin typeface="Aptos"/>
                <a:solidFill>
                  <a:srgbClr val="334155"/>
                </a:solidFill>
              </a:rPr>
              <a:t> branch into the </a:t>
            </a:r>
            <a:r>
              <a:rPr sz="1550" b="0">
                <a:latin typeface="Aptos"/>
                <a:solidFill>
                  <a:srgbClr val="334155"/>
                </a:solidFill>
              </a:rPr>
              <a:t>opsdesk</a:t>
            </a:r>
            <a:r>
              <a:rPr sz="1550" b="0">
                <a:latin typeface="Aptos"/>
                <a:solidFill>
                  <a:srgbClr val="334155"/>
                </a:solidFill>
              </a:rPr>
              <a:t> namespace.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09  /  11</a:t>
            </a:r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10 — Prometheus and Grafana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FastAPI instrumentation exposes Prometheus metrics at </a:t>
            </a:r>
            <a:r>
              <a:rPr sz="1550" b="0">
                <a:latin typeface="Aptos"/>
                <a:solidFill>
                  <a:srgbClr val="334155"/>
                </a:solidFill>
              </a:rPr>
              <a:t>/metrics</a:t>
            </a:r>
            <a:r>
              <a:rPr sz="1550" b="0">
                <a:latin typeface="Aptos"/>
                <a:solidFill>
                  <a:srgbClr val="334155"/>
                </a:solidFill>
              </a:rPr>
              <a:t>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Helm ServiceMonitor scrapes the backend every 15 seconds.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monitoring/prometheus-values.yaml</a:t>
            </a:r>
            <a:r>
              <a:rPr sz="1550" b="0">
                <a:latin typeface="Aptos"/>
                <a:solidFill>
                  <a:srgbClr val="334155"/>
                </a:solidFill>
              </a:rPr>
              <a:t> enables Grafana and cross-namespace ServiceMonitor discovery.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monitoring/opsdesk-dashboard.json</a:t>
            </a:r>
            <a:r>
              <a:rPr sz="1550" b="0">
                <a:latin typeface="Aptos"/>
                <a:solidFill>
                  <a:srgbClr val="334155"/>
                </a:solidFill>
              </a:rPr>
              <a:t> includes request rate, 5xx rate, p95 latency, status mix, and scrape health panels.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The dashboard is provisioned as </a:t>
            </a:r>
            <a:r>
              <a:rPr sz="1550" b="0">
                <a:latin typeface="Aptos"/>
                <a:solidFill>
                  <a:srgbClr val="334155"/>
                </a:solidFill>
              </a:rPr>
              <a:t>OpsDesk API Overview</a:t>
            </a:r>
            <a:r>
              <a:rPr sz="1550" b="0">
                <a:latin typeface="Aptos"/>
                <a:solidFill>
                  <a:srgbClr val="334155"/>
                </a:solidFill>
              </a:rPr>
              <a:t> with Grafana UID </a:t>
            </a:r>
            <a:r>
              <a:rPr sz="1550" b="0">
                <a:latin typeface="Aptos"/>
                <a:solidFill>
                  <a:srgbClr val="334155"/>
                </a:solidFill>
              </a:rPr>
              <a:t>opsdesk-api-overview</a:t>
            </a:r>
            <a:r>
              <a:rPr sz="1550" b="0">
                <a:latin typeface="Aptos"/>
                <a:solidFill>
                  <a:srgbClr val="334155"/>
                </a:solidFill>
              </a:rPr>
              <a:t>.</a:t>
            </a:r>
          </a:p>
          <a:p>
            <a:pPr lvl="0" indent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kubectl get servicemonitor </a:t>
            </a:r>
            <a:r>
              <a:rPr sz="1550" b="0">
                <a:latin typeface="Aptos"/>
                <a:solidFill>
                  <a:srgbClr val="334155"/>
                </a:solidFill>
              </a:rPr>
              <a:t>-A</a:t>
            </a:r>
            <a:br/>
            <a:r>
              <a:rPr sz="1550" b="0">
                <a:latin typeface="Aptos"/>
                <a:solidFill>
                  <a:srgbClr val="334155"/>
                </a:solidFill>
              </a:rPr>
              <a:t>kubectl port-forward </a:t>
            </a:r>
            <a:r>
              <a:rPr sz="1550" b="0">
                <a:latin typeface="Aptos"/>
                <a:solidFill>
                  <a:srgbClr val="334155"/>
                </a:solidFill>
              </a:rPr>
              <a:t>-n</a:t>
            </a:r>
            <a:r>
              <a:rPr sz="1550" b="0">
                <a:latin typeface="Aptos"/>
                <a:solidFill>
                  <a:srgbClr val="334155"/>
                </a:solidFill>
              </a:rPr>
              <a:t> monitoring svc/kube-prometheus-stack-grafana 3000:80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Observed live evidence:</a:t>
            </a:r>
            <a:r>
              <a:rPr sz="1550" b="0">
                <a:latin typeface="Aptos"/>
                <a:solidFill>
                  <a:srgbClr val="334155"/>
                </a:solidFill>
              </a:rPr>
              <a:t> Prometheus returned </a:t>
            </a:r>
            <a:r>
              <a:rPr sz="1550" b="0">
                <a:latin typeface="Aptos"/>
                <a:solidFill>
                  <a:srgbClr val="334155"/>
                </a:solidFill>
              </a:rPr>
              <a:t>up{namespace="opsdesk",service="opsdesk-backend"}=1</a:t>
            </a:r>
            <a:r>
              <a:rPr sz="1550" b="0">
                <a:latin typeface="Aptos"/>
                <a:solidFill>
                  <a:srgbClr val="334155"/>
                </a:solidFill>
              </a:rPr>
              <a:t> for both backend Pods, and request-rate series were present for health, readiness, metrics, list, create, update, and stats endpoints.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10  /  11</a:t>
            </a:r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bg>
      <a:bgPr>
        <a:solidFill>
          <a:srgbClr val="F8FAFC"/>
        </a:solidFill>
        <a:effectLst/>
      </a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91440" rIns="91440" tIns="45720" bIns="45720"/>
          <a:lstStyle>
            <a:lvl1pPr>
              <a:defRPr sz="2500">
                <a:latin typeface="Aptos Display"/>
                <a:solidFill>
                  <a:srgbClr val="0B1220"/>
                </a:solidFill>
              </a:defRPr>
            </a:lvl1pPr>
            <a:lvl2pPr>
              <a:defRPr sz="2500">
                <a:latin typeface="Aptos Display"/>
                <a:solidFill>
                  <a:srgbClr val="0B1220"/>
                </a:solidFill>
              </a:defRPr>
            </a:lvl2pPr>
            <a:lvl3pPr>
              <a:defRPr sz="2500">
                <a:latin typeface="Aptos Display"/>
                <a:solidFill>
                  <a:srgbClr val="0B1220"/>
                </a:solidFill>
              </a:defRPr>
            </a:lvl3pPr>
          </a:lstStyle>
          <a:p>
            <a:pPr lvl="0" indent="0" marL="0">
              <a:buNone/>
            </a:pPr>
            <a:r>
              <a:rPr sz="2500" b="1">
                <a:latin typeface="Aptos Display"/>
                <a:solidFill>
                  <a:srgbClr val="0B1220"/>
                </a:solidFill>
              </a:rPr>
              <a:t>Slide 11 — Failure drills, limitations, and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anchor="t" lIns="91440" rIns="91440" tIns="45720" bIns="45720"/>
          <a:lstStyle>
            <a:lvl1pPr>
              <a:defRPr sz="1550">
                <a:latin typeface="Aptos"/>
                <a:solidFill>
                  <a:srgbClr val="334155"/>
                </a:solidFill>
              </a:defRPr>
            </a:lvl1pPr>
            <a:lvl2pPr>
              <a:defRPr sz="1550">
                <a:latin typeface="Aptos"/>
                <a:solidFill>
                  <a:srgbClr val="334155"/>
                </a:solidFill>
              </a:defRPr>
            </a:lvl2pPr>
            <a:lvl3pPr>
              <a:defRPr sz="1550">
                <a:latin typeface="Aptos"/>
                <a:solidFill>
                  <a:srgbClr val="334155"/>
                </a:solidFill>
              </a:defRPr>
            </a:lvl3pPr>
          </a:lstStyle>
          <a:p>
            <a:pPr lvl="0" indent="0" marL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Failure drills: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Broken image → </a:t>
            </a:r>
            <a:r>
              <a:rPr sz="1550" b="0">
                <a:latin typeface="Aptos"/>
                <a:solidFill>
                  <a:srgbClr val="334155"/>
                </a:solidFill>
              </a:rPr>
              <a:t>ImagePullBackOff</a:t>
            </a:r>
            <a:r>
              <a:rPr sz="1550" b="0">
                <a:latin typeface="Aptos"/>
                <a:solidFill>
                  <a:srgbClr val="334155"/>
                </a:solidFill>
              </a:rPr>
              <a:t> → inspect Pod/events and image tag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Broken selector → empty Endpoints → compare Service selector with Pod labels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Empty dashboard → inspect target health, metric names, and scrape labels</a:t>
            </a:r>
          </a:p>
          <a:p>
            <a:pPr lvl="0" indent="0" marL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Key learnings: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Infrastructure as Code creates the foundation; GitOps continuously reconciles application state.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Readiness probes express dependency health, while liveness probes protect process health.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Immutable image tags plus scan gates make each release traceable and safer to promote.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Service selectors, ServiceMonitor labels, and PromQL queries are the first checkpoints when debugging an empty dashboard.</a:t>
            </a:r>
          </a:p>
          <a:p>
            <a:pPr lvl="0" indent="0" marL="0">
              <a:buNone/>
            </a:pPr>
            <a:r>
              <a:rPr sz="1550" b="0">
                <a:latin typeface="Aptos"/>
                <a:solidFill>
                  <a:srgbClr val="334155"/>
                </a:solidFill>
              </a:rPr>
              <a:t>Known limitations: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No authentication, authorization, production secret management, or managed RDS integration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Hosted GitHub Actions evidence still requires a user-run workflow; the live classroom deployment uses ECR because GHCR packages are private.</a:t>
            </a:r>
          </a:p>
          <a:p>
            <a:pPr lvl="0"/>
            <a:r>
              <a:rPr sz="1550" b="0">
                <a:latin typeface="Aptos"/>
                <a:solidFill>
                  <a:srgbClr val="334155"/>
                </a:solidFill>
              </a:rPr>
              <a:t>PostgreSQL remains classroom-grade in-cluster storage without backup/HA or managed RDS.</a:t>
            </a:r>
          </a:p>
          <a:p>
            <a:pPr lvl="0" indent="0" marL="0">
              <a:buNone/>
            </a:pPr>
            <a:r>
              <a:rPr b="0" sz="1550">
                <a:latin typeface="Aptos"/>
                <a:solidFill>
                  <a:srgbClr val="334155"/>
                </a:solidFill>
              </a:rPr>
              <a:t>Close:</a:t>
            </a:r>
            <a:r>
              <a:rPr sz="1550" b="0">
                <a:latin typeface="Aptos"/>
                <a:solidFill>
                  <a:srgbClr val="334155"/>
                </a:solidFill>
              </a:rPr>
              <a:t> OpsDesk is implemented, containerized, scanned, deployed to EKS, synchronized by ArgoCD, and observable through Prometheus/Grafana. The only remaining submission artifact is the separately recorded walkthrough video.</a:t>
            </a:r>
          </a:p>
        </p:txBody>
      </p:sp>
      <p:sp>
        <p:nvSpPr>
          <p:cNvPr id="4" name="Top accent"/>
          <p:cNvSpPr txBox="0"/>
          <p:nvPr/>
        </p:nvSpPr>
        <p:spPr>
          <a:xfrm>
            <a:off x="0" y="0"/>
            <a:ext cx="9144000" cy="76000"/>
          </a:xfrm>
          <a:prstGeom prst="rect">
            <a:avLst/>
          </a:prstGeom>
          <a:solidFill>
            <a:srgbClr val="06B6D4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5" name="Title accent"/>
          <p:cNvSpPr txBox="0"/>
          <p:nvPr/>
        </p:nvSpPr>
        <p:spPr>
          <a:xfrm>
            <a:off x="457200" y="1010000"/>
            <a:ext cx="720000" cy="52000"/>
          </a:xfrm>
          <a:prstGeom prst="roundRect">
            <a:avLst/>
          </a:prstGeom>
          <a:solidFill>
            <a:srgbClr val="14B8A6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6" name="Footer rule"/>
          <p:cNvSpPr txBox="0"/>
          <p:nvPr/>
        </p:nvSpPr>
        <p:spPr>
          <a:xfrm>
            <a:off x="457200" y="6440000"/>
            <a:ext cx="8229600" cy="14000"/>
          </a:xfrm>
          <a:prstGeom prst="rect">
            <a:avLst/>
          </a:prstGeom>
          <a:solidFill>
            <a:srgbClr val="CBD5E1"/>
          </a:solidFill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endParaRPr lang="en-US"/>
          </a:p>
        </p:txBody>
      </p:sp>
      <p:sp>
        <p:nvSpPr>
          <p:cNvPr id="7" name="Footer label"/>
          <p:cNvSpPr txBox="1"/>
          <p:nvPr/>
        </p:nvSpPr>
        <p:spPr>
          <a:xfrm>
            <a:off x="457200" y="6490000"/>
            <a:ext cx="520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l"/>
            <a:r>
              <a:rPr lang="en-US" sz="850">
                <a:latin typeface="Aptos"/>
                <a:solidFill>
                  <a:srgbClr val="64748B"/>
                </a:solidFill>
              </a:rPr>
              <a:t>OPSDESK  /  DEVSECOPS CAPSTONE</a:t>
            </a:r>
            <a:endParaRPr lang="en-US"/>
          </a:p>
        </p:txBody>
      </p:sp>
      <p:sp>
        <p:nvSpPr>
          <p:cNvPr id="8" name="Footer number"/>
          <p:cNvSpPr txBox="1"/>
          <p:nvPr/>
        </p:nvSpPr>
        <p:spPr>
          <a:xfrm>
            <a:off x="7900000" y="6490000"/>
            <a:ext cx="1450000" cy="220000"/>
          </a:xfrm>
          <a:prstGeom prst="rect">
            <a:avLst/>
          </a:prstGeom>
          <a:noFill/>
          <a:ln w="9525">
            <a:noFill/>
          </a:ln>
        </p:spPr>
        <p:txBody>
          <a:bodyPr anchor="ctr" lIns="45720" rIns="45720" tIns="22860" bIns="22860" wrap="square"/>
          <a:lstStyle/>
          <a:p>
            <a:pPr algn="r"/>
            <a:r>
              <a:rPr lang="en-US" sz="850">
                <a:latin typeface="Aptos"/>
                <a:solidFill>
                  <a:srgbClr val="64748B"/>
                </a:solidFill>
              </a:rPr>
              <a:t>11  /  11</a:t>
            </a:r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B1220"/>
      </a:dk1>
      <a:lt1>
        <a:srgbClr val="FFFFFF"/>
      </a:lt1>
      <a:dk2>
        <a:srgbClr val="334155"/>
      </a:dk2>
      <a:lt2>
        <a:srgbClr val="E2E8F0"/>
      </a:lt2>
      <a:accent1>
        <a:srgbClr val="06B6D4"/>
      </a:accent1>
      <a:accent2>
        <a:srgbClr val="14B8A6"/>
      </a:accent2>
      <a:accent3>
        <a:srgbClr val="F59E0B"/>
      </a:accent3>
      <a:accent4>
        <a:srgbClr val="8B5CF6"/>
      </a:accent4>
      <a:accent5>
        <a:srgbClr val="22C55E"/>
      </a:accent5>
      <a:accent6>
        <a:srgbClr val="F43F5E"/>
      </a:accent6>
      <a:hlink>
        <a:srgbClr val="0284C7"/>
      </a:hlink>
      <a:folHlink>
        <a:srgbClr val="7C3AED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OpsDesk: from code to observable operations</dc:title>
  <dc:creator>OpsDesk platform team</dc:creator>
  <cp:keywords/>
  <dcterms:created xsi:type="dcterms:W3CDTF">2026-10-16T22:31:54Z</dcterms:created>
  <dcterms:modified xsi:type="dcterms:W3CDTF">2026-10-16T22:31:54Z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17 October 2026</vt:lpwstr>
  </property>
  <property fmtid="{D5CDD505-2E9C-101B-9397-08002B2CF9AE}" pid="3" name="subtitle">
    <vt:lpwstr>DevSecOps capstone</vt:lpwstr>
  </property>
</Properties>
</file>