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OpsDesk DevSecOps capstone — presentation deck source</a:t>
            </a:r>
          </a:p>
        </p:txBody>
      </p:sp>
      <p:sp>
        <p:nvSpPr>
          <p:cNvPr id="3" name="Content Placeholder 2"/>
          <p:cNvSpPr>
            <a:spLocks noGrp="1"/>
          </p:cNvSpPr>
          <p:nvPr>
            <p:ph idx="1"/>
          </p:nvPr>
        </p:nvSpPr>
        <p:spPr/>
        <p:txBody>
          <a:bodyPr/>
          <a:lstStyle/>
          <a:p>
            <a:pPr lvl="0" indent="0" marL="0">
              <a:buNone/>
            </a:pPr>
            <a:r>
              <a:rPr/>
              <a:t>This Markdown file is the source for the generated </a:t>
            </a:r>
            <a:r>
              <a:rPr>
                <a:latin typeface="Courier"/>
              </a:rPr>
              <a:t>presentation.pptx</a:t>
            </a:r>
            <a:r>
              <a:rPr/>
              <a:t> deck: a title slide plus 11 content slides. Regenerate it with Pandoc when the source changes, then record the walkthrough separately. Every runtime claim in the slides is phrased as an intended check; replace the evidence placeholders with screenshots or links only after running the commands in </a:t>
            </a:r>
            <a:r>
              <a:rPr>
                <a:latin typeface="Courier"/>
              </a:rPr>
              <a:t>demo/evidence-checklist.md</a:t>
            </a:r>
            <a:r>
              <a:rPr/>
              <a: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 — OpsDesk: from code to observable operations</a:t>
            </a:r>
          </a:p>
          <a:p>
            <a:pPr lvl="0" indent="0" marL="0">
              <a:buNone/>
            </a:pPr>
            <a:r>
              <a:rPr b="1"/>
              <a:t>DevSecOps capstone</a:t>
            </a:r>
          </a:p>
          <a:p>
            <a:pPr lvl="0"/>
            <a:r>
              <a:rPr/>
              <a:t>Incident/work-item dashboard for an operations team</a:t>
            </a:r>
          </a:p>
          <a:p>
            <a:pPr lvl="0"/>
            <a:r>
              <a:rPr/>
              <a:t>React + FastAPI + PostgreSQL</a:t>
            </a:r>
          </a:p>
          <a:p>
            <a:pPr lvl="0"/>
            <a:r>
              <a:rPr/>
              <a:t>CI/CD, containers, Terraform, Kubernetes, Helm, ArgoCD, Prometheus, and Grafana artifacts</a:t>
            </a:r>
          </a:p>
          <a:p>
            <a:pPr lvl="0" indent="0" marL="0">
              <a:buNone/>
            </a:pPr>
            <a:r>
              <a:rPr b="1"/>
              <a:t>Presenter note:</a:t>
            </a:r>
            <a:r>
              <a:rPr/>
              <a:t> The repository is named </a:t>
            </a:r>
            <a:r>
              <a:rPr>
                <a:latin typeface="Courier"/>
              </a:rPr>
              <a:t>devsecops-csp</a:t>
            </a:r>
            <a:r>
              <a:rPr/>
              <a:t>; the product presented by the current frontend and API is OpsDesk.</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2 — The application outcome</a:t>
            </a:r>
          </a:p>
          <a:p>
            <a:pPr lvl="0"/>
            <a:r>
              <a:rPr/>
              <a:t>Create incidents with title, description, priority, status, and owner</a:t>
            </a:r>
          </a:p>
          <a:p>
            <a:pPr lvl="0"/>
            <a:r>
              <a:rPr/>
              <a:t>Filter the queue by status, priority, or text</a:t>
            </a:r>
          </a:p>
          <a:p>
            <a:pPr lvl="0"/>
            <a:r>
              <a:rPr/>
              <a:t>Advance work through </a:t>
            </a:r>
            <a:r>
              <a:rPr>
                <a:latin typeface="Courier"/>
              </a:rPr>
              <a:t>OPEN → IN_PROGRESS → RESOLVED</a:t>
            </a:r>
          </a:p>
          <a:p>
            <a:pPr lvl="0"/>
            <a:r>
              <a:rPr/>
              <a:t>Read summary statistics from the API</a:t>
            </a:r>
          </a:p>
          <a:p>
            <a:pPr lvl="0"/>
            <a:r>
              <a:rPr/>
              <a:t>Use </a:t>
            </a:r>
            <a:r>
              <a:rPr>
                <a:latin typeface="Courier"/>
              </a:rPr>
              <a:t>/health</a:t>
            </a:r>
            <a:r>
              <a:rPr/>
              <a:t>, </a:t>
            </a:r>
            <a:r>
              <a:rPr>
                <a:latin typeface="Courier"/>
              </a:rPr>
              <a:t>/ready</a:t>
            </a:r>
            <a:r>
              <a:rPr/>
              <a:t>, and </a:t>
            </a:r>
            <a:r>
              <a:rPr>
                <a:latin typeface="Courier"/>
              </a:rPr>
              <a:t>/metrics</a:t>
            </a:r>
            <a:r>
              <a:rPr/>
              <a:t> for operational checks</a:t>
            </a:r>
          </a:p>
          <a:p>
            <a:pPr lvl="0" indent="0" marL="0">
              <a:buNone/>
            </a:pPr>
            <a:r>
              <a:rPr b="1"/>
              <a:t>Evidence placeholder:</a:t>
            </a:r>
            <a:r>
              <a:rPr/>
              <a:t> browser capture of the running OpsDesk UI.</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3 — Architecture</a:t>
            </a:r>
          </a:p>
          <a:p>
            <a:pPr lvl="0" indent="0">
              <a:buNone/>
            </a:pPr>
            <a:r>
              <a:rPr>
                <a:latin typeface="Courier"/>
              </a:rPr>
              <a:t>Browser
  │  http://localhost:3000 or Ingress /
  ▼
React static site + Nginx
  │  /api/*
  ▼
FastAPI / OpsDesk API ───────► PostgreSQL
  │ /metrics
  ▼
Prometheus ◄── ServiceMonitor ── Kubernetes Service
  │
  ▼
Grafana dashboard</a:t>
            </a:r>
          </a:p>
          <a:p>
            <a:pPr lvl="0"/>
            <a:r>
              <a:rPr/>
              <a:t>Docker Compose is the local three-service path.</a:t>
            </a:r>
          </a:p>
          <a:p>
            <a:pPr lvl="0"/>
            <a:r>
              <a:rPr/>
              <a:t>Helm packages the cluster path and includes PostgreSQL, HPA, Ingress, and ServiceMonitor templates.</a:t>
            </a:r>
          </a:p>
          <a:p>
            <a:pPr lvl="0"/>
            <a:r>
              <a:rPr/>
              <a:t>Terraform describes the AWS VPC and EKS foundation.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4 — API and data flow</a:t>
            </a:r>
          </a:p>
          <a:p>
            <a:pPr lvl="0" indent="0" marL="0">
              <a:buNone/>
            </a:pPr>
            <a:r>
              <a:rPr/>
              <a:t>Canonical API resources:</a:t>
            </a:r>
          </a:p>
          <a:p>
            <a:pPr lvl="0" indent="0">
              <a:buNone/>
            </a:pPr>
            <a:r>
              <a:rPr>
                <a:latin typeface="Courier"/>
              </a:rPr>
              <a:t>GET    /api/incidents
GET    /api/incidents/{id}
POST   /api/incidents
PUT    /api/incidents/{id}
DELETE /api/incidents/{id}
GET    /api/incidents/stats</a:t>
            </a:r>
          </a:p>
          <a:p>
            <a:pPr lvl="0"/>
            <a:r>
              <a:rPr/>
              <a:t>Alembic migrations manage the database schema.</a:t>
            </a:r>
          </a:p>
          <a:p>
            <a:pPr lvl="0"/>
            <a:r>
              <a:rPr/>
              <a:t>Pydantic validates titles, statuses, priorities, and update payloads.</a:t>
            </a:r>
          </a:p>
          <a:p>
            <a:pPr lvl="0"/>
            <a:r>
              <a:rPr>
                <a:latin typeface="Courier"/>
              </a:rPr>
              <a:t>/api/work-items</a:t>
            </a:r>
            <a:r>
              <a:rPr/>
              <a:t> remains as a hidden compatibility alias.</a:t>
            </a:r>
          </a:p>
          <a:p>
            <a:pPr lvl="0" indent="0" marL="0">
              <a:buNone/>
            </a:pPr>
            <a:r>
              <a:rPr b="1"/>
              <a:t>Evidence placeholder:</a:t>
            </a:r>
            <a:r>
              <a:rPr/>
              <a:t> </a:t>
            </a:r>
            <a:r>
              <a:rPr>
                <a:latin typeface="Courier"/>
              </a:rPr>
              <a:t>/docs</a:t>
            </a:r>
            <a:r>
              <a:rPr/>
              <a:t>, a CRUD request, and </a:t>
            </a:r>
            <a:r>
              <a:rPr>
                <a:latin typeface="Courier"/>
              </a:rPr>
              <a:t>curl /metrics</a:t>
            </a:r>
            <a:r>
              <a:rPr/>
              <a:t> output.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5 — Local developer workflow</a:t>
            </a:r>
          </a:p>
          <a:p>
            <a:pPr lvl="0" indent="0">
              <a:buNone/>
            </a:pPr>
            <a:r>
              <a:rPr>
                <a:latin typeface="Courier"/>
              </a:rPr>
              <a:t>docker compose up </a:t>
            </a:r>
            <a:r>
              <a:rPr>
                <a:solidFill>
                  <a:srgbClr val="7D9029"/>
                </a:solidFill>
                <a:latin typeface="Courier"/>
              </a:rPr>
              <a:t>--build</a:t>
            </a:r>
            <a:br/>
            <a:r>
              <a:rPr>
                <a:latin typeface="Courier"/>
              </a:rPr>
              <a:t>open http://localhost:3000</a:t>
            </a:r>
            <a:br/>
            <a:r>
              <a:rPr>
                <a:latin typeface="Courier"/>
              </a:rPr>
              <a:t>open http://localhost:8000/docs</a:t>
            </a:r>
            <a:br/>
            <a:r>
              <a:rPr>
                <a:latin typeface="Courier"/>
              </a:rPr>
              <a:t>docker compose down</a:t>
            </a:r>
          </a:p>
          <a:p>
            <a:pPr lvl="0"/>
            <a:r>
              <a:rPr/>
              <a:t>Compose starts Postgres, the FastAPI backend, and Nginx-served frontend.</a:t>
            </a:r>
          </a:p>
          <a:p>
            <a:pPr lvl="0"/>
            <a:r>
              <a:rPr/>
              <a:t>The Compose database uses the </a:t>
            </a:r>
            <a:r>
              <a:rPr>
                <a:latin typeface="Courier"/>
              </a:rPr>
              <a:t>opsdesk</a:t>
            </a:r>
            <a:r>
              <a:rPr/>
              <a:t> database/user/password values in </a:t>
            </a:r>
            <a:r>
              <a:rPr>
                <a:latin typeface="Courier"/>
              </a:rPr>
              <a:t>docker-compose.yml</a:t>
            </a:r>
            <a:r>
              <a:rPr/>
              <a:t>.</a:t>
            </a:r>
          </a:p>
          <a:p>
            <a:pPr lvl="0"/>
            <a:r>
              <a:rPr/>
              <a:t>The direct backend path uses an explicitly supplied </a:t>
            </a:r>
            <a:r>
              <a:rPr>
                <a:latin typeface="Courier"/>
              </a:rPr>
              <a:t>DATABASE_URL</a:t>
            </a:r>
            <a:r>
              <a:rPr/>
              <a:t> and Alembic.</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6 — CI/CD and supply-chain controls</a:t>
            </a:r>
          </a:p>
          <a:p>
            <a:pPr lvl="0" indent="0" marL="0">
              <a:buNone/>
            </a:pPr>
            <a:r>
              <a:rPr b="1"/>
              <a:t>Active workflow:</a:t>
            </a:r>
            <a:r>
              <a:rPr/>
              <a:t> </a:t>
            </a:r>
            <a:r>
              <a:rPr>
                <a:latin typeface="Courier"/>
              </a:rPr>
              <a:t>.github/workflows/ci-cd.yml</a:t>
            </a:r>
          </a:p>
          <a:p>
            <a:pPr lvl="0" indent="-342900" marL="342900">
              <a:buAutoNum type="arabicPeriod"/>
            </a:pPr>
            <a:r>
              <a:rPr/>
              <a:t>Pytest and frontend build</a:t>
            </a:r>
          </a:p>
          <a:p>
            <a:pPr lvl="0" indent="-342900" marL="342900">
              <a:buAutoNum type="arabicPeriod"/>
            </a:pPr>
            <a:r>
              <a:rPr/>
              <a:t>Build backend/frontend images</a:t>
            </a:r>
          </a:p>
          <a:p>
            <a:pPr lvl="0" indent="-342900" marL="342900">
              <a:buAutoNum type="arabicPeriod"/>
            </a:pPr>
            <a:r>
              <a:rPr/>
              <a:t>Trivy HIGH/CRITICAL scan with </a:t>
            </a:r>
            <a:r>
              <a:rPr>
                <a:latin typeface="Courier"/>
              </a:rPr>
              <a:t>exit-code: 1</a:t>
            </a:r>
          </a:p>
          <a:p>
            <a:pPr lvl="0" indent="-342900" marL="342900">
              <a:buAutoNum type="arabicPeriod"/>
            </a:pPr>
            <a:r>
              <a:rPr/>
              <a:t>Push SHA-tagged images to GHCR</a:t>
            </a:r>
          </a:p>
          <a:p>
            <a:pPr lvl="0" indent="-342900" marL="342900">
              <a:buAutoNum type="arabicPeriod"/>
            </a:pPr>
            <a:r>
              <a:rPr/>
              <a:t>On </a:t>
            </a:r>
            <a:r>
              <a:rPr>
                <a:latin typeface="Courier"/>
              </a:rPr>
              <a:t>main</a:t>
            </a:r>
            <a:r>
              <a:rPr/>
              <a:t>, optionally deploy the SHA-tagged images with Helm using </a:t>
            </a:r>
            <a:r>
              <a:rPr>
                <a:latin typeface="Courier"/>
              </a:rPr>
              <a:t>KUBE_CONFIG_DATA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7 — Terraform foundation</a:t>
            </a:r>
          </a:p>
          <a:p>
            <a:pPr lvl="0" indent="0">
              <a:buNone/>
            </a:pPr>
            <a:r>
              <a:rPr>
                <a:latin typeface="Courier"/>
              </a:rPr>
              <a:t>AWS VPC 10.20.0.0/16
  ├── two public subnets
  ├── two private subnets
  ├── single NAT gateway
  └── EKS opsdesk-eks
        └── managed t3.medium node group, desired size 2</a:t>
            </a:r>
          </a:p>
          <a:p>
            <a:pPr lvl="0" indent="0">
              <a:buNone/>
            </a:pPr>
            <a:r>
              <a:rPr>
                <a:solidFill>
                  <a:srgbClr val="008000"/>
                </a:solidFill>
                <a:latin typeface="Courier"/>
              </a:rPr>
              <a:t>cd</a:t>
            </a:r>
            <a:r>
              <a:rPr>
                <a:latin typeface="Courier"/>
              </a:rPr>
              <a:t> terraform</a:t>
            </a:r>
            <a:br/>
            <a:r>
              <a:rPr>
                <a:latin typeface="Courier"/>
              </a:rPr>
              <a:t>terraform init</a:t>
            </a:r>
            <a:br/>
            <a:r>
              <a:rPr>
                <a:latin typeface="Courier"/>
              </a:rPr>
              <a:t>terraform validate</a:t>
            </a:r>
            <a:br/>
            <a:r>
              <a:rPr>
                <a:latin typeface="Courier"/>
              </a:rPr>
              <a:t>terraform plan</a:t>
            </a:r>
            <a:br/>
            <a:r>
              <a:rPr>
                <a:latin typeface="Courier"/>
              </a:rPr>
              <a:t>terraform apply</a:t>
            </a:r>
            <a:br/>
            <a:r>
              <a:rPr>
                <a:latin typeface="Courier"/>
              </a:rPr>
              <a:t>aws eks update-kubeconfig </a:t>
            </a:r>
            <a:r>
              <a:rPr>
                <a:solidFill>
                  <a:srgbClr val="7D9029"/>
                </a:solidFill>
                <a:latin typeface="Courier"/>
              </a:rPr>
              <a:t>--region</a:t>
            </a:r>
            <a:r>
              <a:rPr>
                <a:latin typeface="Courier"/>
              </a:rPr>
              <a:t> ap-south-1 </a:t>
            </a:r>
            <a:r>
              <a:rPr>
                <a:solidFill>
                  <a:srgbClr val="7D9029"/>
                </a:solidFill>
                <a:latin typeface="Courier"/>
              </a:rPr>
              <a:t>--name</a:t>
            </a:r>
            <a:r>
              <a:rPr>
                <a:latin typeface="Courier"/>
              </a:rPr>
              <a:t> opsdesk-eks</a:t>
            </a:r>
          </a:p>
          <a:p>
            <a:pPr lvl="0" indent="0" marL="0">
              <a:buNone/>
            </a:pPr>
            <a:r>
              <a:rPr b="1"/>
              <a:t>Evidence placeholder:</a:t>
            </a:r>
            <a:r>
              <a:rPr/>
              <a:t> plan/AWS Console capture, only if actually provisioned. No live AWS evidence is included in this repository.</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8 — Kubernetes and Helm</a:t>
            </a:r>
          </a:p>
          <a:p>
            <a:pPr lvl="0"/>
            <a:r>
              <a:rPr>
                <a:latin typeface="Courier"/>
              </a:rPr>
              <a:t>k8s/</a:t>
            </a:r>
            <a:r>
              <a:rPr/>
              <a:t> contains the namespace bootstrap manifest; Helm owns the application resources.</a:t>
            </a:r>
          </a:p>
          <a:p>
            <a:pPr lvl="0"/>
            <a:r>
              <a:rPr>
                <a:latin typeface="Courier"/>
              </a:rPr>
              <a:t>helm/taskboard</a:t>
            </a:r>
            <a:r>
              <a:rPr/>
              <a:t> packages frontend, backend, PostgreSQL/PVC, optional Ingress, HPA, and ServiceMonitor.</a:t>
            </a:r>
          </a:p>
          <a:p>
            <a:pPr lvl="0"/>
            <a:r>
              <a:rPr>
                <a:latin typeface="Courier"/>
              </a:rPr>
              <a:t>values-dev.yaml</a:t>
            </a:r>
            <a:r>
              <a:rPr/>
              <a:t> enables </a:t>
            </a:r>
            <a:r>
              <a:rPr>
                <a:latin typeface="Courier"/>
              </a:rPr>
              <a:t>opsdesk.local</a:t>
            </a:r>
            <a:r>
              <a:rPr/>
              <a:t> Ingress and disables HPA.</a:t>
            </a:r>
          </a:p>
          <a:p>
            <a:pPr lvl="0"/>
            <a:r>
              <a:rPr>
                <a:latin typeface="Courier"/>
              </a:rPr>
              <a:t>values-prod.yaml</a:t>
            </a:r>
            <a:r>
              <a:rPr/>
              <a:t> enables Ingress/HPA but still needs real image names, a real host, and the external database Secret.</a:t>
            </a:r>
          </a:p>
          <a:p>
            <a:pPr lvl="0" indent="0">
              <a:buNone/>
            </a:pPr>
            <a:r>
              <a:rPr>
                <a:latin typeface="Courier"/>
              </a:rPr>
              <a:t>helm lint ./helm/taskboard</a:t>
            </a:r>
            <a:br/>
            <a:r>
              <a:rPr>
                <a:latin typeface="Courier"/>
              </a:rPr>
              <a:t>helm template opsdesk ./helm/taskboard </a:t>
            </a:r>
            <a:r>
              <a:rPr>
                <a:solidFill>
                  <a:srgbClr val="7D9029"/>
                </a:solidFill>
                <a:latin typeface="Courier"/>
              </a:rPr>
              <a:t>-n</a:t>
            </a:r>
            <a:r>
              <a:rPr>
                <a:latin typeface="Courier"/>
              </a:rPr>
              <a:t> opsdesk</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9 — ArgoCD GitOps path</a:t>
            </a:r>
          </a:p>
          <a:p>
            <a:pPr lvl="0" indent="0" marL="0">
              <a:buNone/>
            </a:pPr>
            <a:r>
              <a:rPr>
                <a:latin typeface="Courier"/>
              </a:rPr>
              <a:t>argocd/application.yaml</a:t>
            </a:r>
            <a:r>
              <a:rPr/>
              <a:t> is a reviewable Application template:</a:t>
            </a:r>
          </a:p>
          <a:p>
            <a:pPr lvl="0" indent="0">
              <a:buNone/>
            </a:pPr>
            <a:r>
              <a:rPr>
                <a:latin typeface="Courier"/>
              </a:rPr>
              <a:t>Git main branch
      │
      ▼
ArgoCD Application
      │ renders helm/taskboard
       ▼
opsdesk namespace</a:t>
            </a:r>
          </a:p>
          <a:p>
            <a:pPr lvl="0"/>
            <a:r>
              <a:rPr/>
              <a:t>Replace repository, owner, and image/tag placeholders before applying.</a:t>
            </a:r>
          </a:p>
          <a:p>
            <a:pPr lvl="0"/>
            <a:r>
              <a:rPr>
                <a:latin typeface="Courier"/>
              </a:rPr>
              <a:t>automated.prune</a:t>
            </a:r>
            <a:r>
              <a:rPr/>
              <a:t> and </a:t>
            </a:r>
            <a:r>
              <a:rPr>
                <a:latin typeface="Courier"/>
              </a:rPr>
              <a:t>selfHeal</a:t>
            </a:r>
            <a:r>
              <a:rPr/>
              <a:t> are enabled in the template.</a:t>
            </a:r>
          </a:p>
          <a:p>
            <a:pPr lvl="0"/>
            <a:r>
              <a:rPr/>
              <a:t>The manifest is not proof that ArgoCD is installed or synced.</a:t>
            </a:r>
          </a:p>
          <a:p>
            <a:pPr lvl="0" indent="0" marL="0">
              <a:buNone/>
            </a:pPr>
            <a:r>
              <a:rPr b="1"/>
              <a:t>Evidence placeholder:</a:t>
            </a:r>
            <a:r>
              <a:rPr/>
              <a:t> </a:t>
            </a:r>
            <a:r>
              <a:rPr>
                <a:latin typeface="Courier"/>
              </a:rPr>
              <a:t>argocd app get opsdesk</a:t>
            </a:r>
            <a:r>
              <a:rPr/>
              <a:t> showing Synced/Healthy after a real deployment.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10 — Prometheus and Grafana</a:t>
            </a:r>
          </a:p>
          <a:p>
            <a:pPr lvl="0"/>
            <a:r>
              <a:rPr/>
              <a:t>FastAPI instrumentation exposes Prometheus metrics at </a:t>
            </a:r>
            <a:r>
              <a:rPr>
                <a:latin typeface="Courier"/>
              </a:rPr>
              <a:t>/metrics</a:t>
            </a:r>
            <a:r>
              <a:rPr/>
              <a:t>.</a:t>
            </a:r>
          </a:p>
          <a:p>
            <a:pPr lvl="0"/>
            <a:r>
              <a:rPr/>
              <a:t>The Helm ServiceMonitor scrapes the backend every 15 seconds.</a:t>
            </a:r>
          </a:p>
          <a:p>
            <a:pPr lvl="0"/>
            <a:r>
              <a:rPr>
                <a:latin typeface="Courier"/>
              </a:rPr>
              <a:t>monitoring/prometheus-values.yaml</a:t>
            </a:r>
            <a:r>
              <a:rPr/>
              <a:t> enables Grafana and cross-namespace ServiceMonitor discovery.</a:t>
            </a:r>
          </a:p>
          <a:p>
            <a:pPr lvl="0"/>
            <a:r>
              <a:rPr>
                <a:latin typeface="Courier"/>
              </a:rPr>
              <a:t>monitoring/opsdesk-dashboard.json</a:t>
            </a:r>
            <a:r>
              <a:rPr/>
              <a:t> includes request rate, 5xx rate, p95 latency, status mix, and scrape health panels.</a:t>
            </a:r>
          </a:p>
          <a:p>
            <a:pPr lvl="0" indent="0">
              <a:buNone/>
            </a:pPr>
            <a:r>
              <a:rPr>
                <a:latin typeface="Courier"/>
              </a:rPr>
              <a:t>kubectl get servicemonitor </a:t>
            </a:r>
            <a:r>
              <a:rPr>
                <a:solidFill>
                  <a:srgbClr val="7D9029"/>
                </a:solidFill>
                <a:latin typeface="Courier"/>
              </a:rPr>
              <a:t>-A</a:t>
            </a:r>
            <a:br/>
            <a:r>
              <a:rPr>
                <a:latin typeface="Courier"/>
              </a:rPr>
              <a:t>kubectl port-forward </a:t>
            </a:r>
            <a:r>
              <a:rPr>
                <a:solidFill>
                  <a:srgbClr val="7D9029"/>
                </a:solidFill>
                <a:latin typeface="Courier"/>
              </a:rPr>
              <a:t>-n</a:t>
            </a:r>
            <a:r>
              <a:rPr>
                <a:latin typeface="Courier"/>
              </a:rPr>
              <a:t> monitoring svc/kube-prometheus-stack-grafana 3000:80</a:t>
            </a:r>
          </a:p>
          <a:p>
            <a:pPr lvl="0" indent="0" marL="0">
              <a:buNone/>
            </a:pPr>
            <a:r>
              <a:rPr b="1"/>
              <a:t>Evidence placeholder:</a:t>
            </a:r>
            <a:r>
              <a:rPr/>
              <a:t> Prometheus target </a:t>
            </a:r>
            <a:r>
              <a:rPr>
                <a:latin typeface="Courier"/>
              </a:rPr>
              <a:t>UP</a:t>
            </a:r>
            <a:r>
              <a:rPr/>
              <a:t> and populated Grafana panels after generating traffic.</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Slide 11 — Failure drills, limitations, and close</a:t>
            </a:r>
          </a:p>
          <a:p>
            <a:pPr lvl="0" indent="0" marL="0">
              <a:buNone/>
            </a:pPr>
            <a:r>
              <a:rPr/>
              <a:t>Failure drills:</a:t>
            </a:r>
          </a:p>
          <a:p>
            <a:pPr lvl="0"/>
            <a:r>
              <a:rPr/>
              <a:t>Broken image → </a:t>
            </a:r>
            <a:r>
              <a:rPr>
                <a:latin typeface="Courier"/>
              </a:rPr>
              <a:t>ImagePullBackOff</a:t>
            </a:r>
            <a:r>
              <a:rPr/>
              <a:t> → inspect Pod/events and image tag</a:t>
            </a:r>
          </a:p>
          <a:p>
            <a:pPr lvl="0"/>
            <a:r>
              <a:rPr/>
              <a:t>Broken selector → empty Endpoints → compare Service selector with Pod labels</a:t>
            </a:r>
          </a:p>
          <a:p>
            <a:pPr lvl="0"/>
            <a:r>
              <a:rPr/>
              <a:t>Empty dashboard → inspect target health, metric names, and scrape labels</a:t>
            </a:r>
          </a:p>
          <a:p>
            <a:pPr lvl="0" indent="0" marL="0">
              <a:buNone/>
            </a:pPr>
            <a:r>
              <a:rPr/>
              <a:t>Known limitations:</a:t>
            </a:r>
          </a:p>
          <a:p>
            <a:pPr lvl="0"/>
            <a:r>
              <a:rPr/>
              <a:t>No authentication, authorization, production secret management, or managed RDS integration</a:t>
            </a:r>
          </a:p>
          <a:p>
            <a:pPr lvl="0"/>
            <a:r>
              <a:rPr/>
              <a:t>GHCR publishing, Helm deployment, and ArgoCD synchronization require external credentials and cluster access</a:t>
            </a:r>
          </a:p>
          <a:p>
            <a:pPr lvl="0"/>
            <a:r>
              <a:rPr/>
              <a:t>No live AWS, Kubernetes, ArgoCD, Prometheus, or Grafana evidence is claimed here</a:t>
            </a:r>
          </a:p>
          <a:p>
            <a:pPr lvl="0" indent="0" marL="0">
              <a:buNone/>
            </a:pPr>
            <a:r>
              <a:rPr b="1"/>
              <a:t>Close:</a:t>
            </a:r>
            <a:r>
              <a:rPr/>
              <a:t> use the evidence checklist to turn each intended check into a captured result.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2026-10-16T14:02:29Z</dcterms:created>
  <dcterms:modified xsi:type="dcterms:W3CDTF">2026-10-16T14:02:29Z</dcterms:modified>
</cp:coreProperties>
</file>

<file path=docProps/custom.xml><?xml version="1.0" encoding="utf-8"?>
<Properties xmlns="http://schemas.openxmlformats.org/officeDocument/2006/custom-properties" xmlns:vt="http://schemas.openxmlformats.org/officeDocument/2006/docPropsVTypes"/>
</file>